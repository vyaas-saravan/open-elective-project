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28">
          <p15:clr>
            <a:srgbClr val="A4A3A4"/>
          </p15:clr>
        </p15:guide>
        <p15:guide id="2" pos="3409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i3zSSdZC69o1j55vBNiFURTu4X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E21B5B-641C-4FE3-9670-09E93975A477}">
  <a:tblStyle styleId="{96E21B5B-641C-4FE3-9670-09E93975A4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67" y="21"/>
      </p:cViewPr>
      <p:guideLst>
        <p:guide orient="horz" pos="2228"/>
        <p:guide pos="34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Why you studying this materials</a:t>
            </a:r>
            <a:endParaRPr/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9239E8E8-916D-4FDF-24A2-30E99BA2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>
            <a:extLst>
              <a:ext uri="{FF2B5EF4-FFF2-40B4-BE49-F238E27FC236}">
                <a16:creationId xmlns:a16="http://schemas.microsoft.com/office/drawing/2014/main" id="{5E2AB6E7-11B9-BF8A-5A0C-CB6092C191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79C45AF6-75F8-745F-F4B9-A98150D519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7699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1115518" y="646040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164892" y="6460403"/>
            <a:ext cx="6208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22"/>
          <p:cNvCxnSpPr/>
          <p:nvPr/>
        </p:nvCxnSpPr>
        <p:spPr>
          <a:xfrm>
            <a:off x="0" y="705170"/>
            <a:ext cx="12192000" cy="0"/>
          </a:xfrm>
          <a:prstGeom prst="straightConnector1">
            <a:avLst/>
          </a:prstGeom>
          <a:noFill/>
          <a:ln w="76200" cap="flat" cmpd="sng">
            <a:solidFill>
              <a:srgbClr val="94165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" name="Google Shape;28;p22"/>
          <p:cNvCxnSpPr/>
          <p:nvPr/>
        </p:nvCxnSpPr>
        <p:spPr>
          <a:xfrm>
            <a:off x="0" y="6382252"/>
            <a:ext cx="12147030" cy="0"/>
          </a:xfrm>
          <a:prstGeom prst="straightConnector1">
            <a:avLst/>
          </a:prstGeom>
          <a:noFill/>
          <a:ln w="19050" cap="flat" cmpd="sng">
            <a:solidFill>
              <a:srgbClr val="94165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/>
          <p:nvPr/>
        </p:nvSpPr>
        <p:spPr>
          <a:xfrm>
            <a:off x="11710866" y="6388100"/>
            <a:ext cx="422030" cy="417634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11684000" y="6407150"/>
            <a:ext cx="4806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/>
          <p:nvPr/>
        </p:nvSpPr>
        <p:spPr>
          <a:xfrm>
            <a:off x="11668123" y="6405562"/>
            <a:ext cx="371475" cy="365125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11515724" y="6405562"/>
            <a:ext cx="676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liedaicourse.com/blog/lasso-regressi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-1"/>
            <a:ext cx="12192000" cy="1845303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Molecular Dynamic guided Machine learning model for Predicting the thermo-mechanical properties of Silicon-Carbide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" descr="nitw brand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6275" y="4799652"/>
            <a:ext cx="667702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3285569" y="2326505"/>
            <a:ext cx="5255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M.Saravan Vyaas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P.S.V Shashank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P.Deva Kumar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 of Mechanical Engineering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983898" y="5983141"/>
            <a:ext cx="785843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691450"/>
                </a:solidFill>
                <a:latin typeface="Calibri"/>
                <a:ea typeface="Calibri"/>
                <a:cs typeface="Calibri"/>
                <a:sym typeface="Calibri"/>
              </a:rPr>
              <a:t>Machine Learning for materials informatics  (MLMI)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3"/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w="38100" cap="flat" cmpd="sng">
            <a:solidFill>
              <a:srgbClr val="6914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3"/>
          <p:cNvSpPr/>
          <p:nvPr/>
        </p:nvSpPr>
        <p:spPr>
          <a:xfrm>
            <a:off x="281050" y="327900"/>
            <a:ext cx="4241000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Silicon Carbide(SiC)</a:t>
            </a:r>
            <a:r>
              <a:rPr lang="en-US"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l="25589" r="26063"/>
          <a:stretch/>
        </p:blipFill>
        <p:spPr>
          <a:xfrm>
            <a:off x="494200" y="1431850"/>
            <a:ext cx="4538824" cy="295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588728" y="4846425"/>
            <a:ext cx="392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Tetrahedron Structure</a:t>
            </a:r>
            <a:endParaRPr sz="24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907401" y="1842888"/>
            <a:ext cx="270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5907401" y="2343338"/>
            <a:ext cx="49152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Thermal Conductivity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Elastic Modulus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Hardness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Thermal Expansion Coefficient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Temperature Strength and Stability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1"/>
            <a:ext cx="12192000" cy="233100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81050" y="327900"/>
            <a:ext cx="6105402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Silicon Carbide(SiC)-Uses</a:t>
            </a:r>
            <a:r>
              <a:rPr lang="en-US"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0825" y="1143325"/>
            <a:ext cx="2408525" cy="19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89" y="1143337"/>
            <a:ext cx="2951225" cy="19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9387" y="1183712"/>
            <a:ext cx="2951225" cy="1965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6450" y="1157525"/>
            <a:ext cx="2408525" cy="201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382300" y="3858575"/>
            <a:ext cx="295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382303" y="3367650"/>
            <a:ext cx="295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EV Inverters</a:t>
            </a:r>
            <a:endParaRPr sz="24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382300" y="4088175"/>
            <a:ext cx="2951100" cy="132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Powers inverters, enhancing battery efficiency and driving range significantly.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3519457" y="4159356"/>
            <a:ext cx="2951100" cy="132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DC to AC efficiently in renewable energy power setups.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3519441" y="3393675"/>
            <a:ext cx="295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Solar Industry</a:t>
            </a:r>
            <a:endParaRPr sz="24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385153" y="3349573"/>
            <a:ext cx="295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Ceramics</a:t>
            </a:r>
            <a:endParaRPr sz="24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8979541" y="3393673"/>
            <a:ext cx="295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Sand paper</a:t>
            </a:r>
            <a:endParaRPr sz="24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385157" y="4104532"/>
            <a:ext cx="2951100" cy="163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strength and temperature resistance to industrial ceramic components.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8979544" y="4073669"/>
            <a:ext cx="2951100" cy="193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strength and temperature resistance to industrial ceramic components.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5"/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w="38100" cap="flat" cmpd="sng">
            <a:solidFill>
              <a:srgbClr val="6914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5"/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81050" y="327900"/>
            <a:ext cx="6105402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454000" y="1635350"/>
            <a:ext cx="68133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develop and validate a machine learning model capable of accurately predicting the thermomechanical properties of Silicon Carbide (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SiC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under various temperatures and strains.</a:t>
            </a:r>
            <a:endParaRPr sz="2000" dirty="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Dataset from MD simulation using LAMMPS input script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a  Regression model, preprocessing the data with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PolynomialFeatures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capture non-linear physical relationships.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850" y="1974000"/>
            <a:ext cx="4109900" cy="20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9EA29378-3A5F-907F-8786-E4A26815A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5">
            <a:extLst>
              <a:ext uri="{FF2B5EF4-FFF2-40B4-BE49-F238E27FC236}">
                <a16:creationId xmlns:a16="http://schemas.microsoft.com/office/drawing/2014/main" id="{D2F4B10A-9B8D-9B49-8F20-771FFBA7C163}"/>
              </a:ext>
            </a:extLst>
          </p:cNvPr>
          <p:cNvCxnSpPr/>
          <p:nvPr/>
        </p:nvCxnSpPr>
        <p:spPr>
          <a:xfrm>
            <a:off x="-11077" y="6409475"/>
            <a:ext cx="12203077" cy="0"/>
          </a:xfrm>
          <a:prstGeom prst="straightConnector1">
            <a:avLst/>
          </a:prstGeom>
          <a:noFill/>
          <a:ln w="38100" cap="flat" cmpd="sng">
            <a:solidFill>
              <a:srgbClr val="6914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CB028937-6364-8ECC-02DB-F347EF7F909E}"/>
              </a:ext>
            </a:extLst>
          </p:cNvPr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>
            <a:extLst>
              <a:ext uri="{FF2B5EF4-FFF2-40B4-BE49-F238E27FC236}">
                <a16:creationId xmlns:a16="http://schemas.microsoft.com/office/drawing/2014/main" id="{E09B3174-D16A-FBAB-7BB8-1E2724914E6C}"/>
              </a:ext>
            </a:extLst>
          </p:cNvPr>
          <p:cNvSpPr/>
          <p:nvPr/>
        </p:nvSpPr>
        <p:spPr>
          <a:xfrm>
            <a:off x="266142" y="291712"/>
            <a:ext cx="6105402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Material Properties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E50FCA-84DE-8041-940D-F334F36CDC52}"/>
              </a:ext>
            </a:extLst>
          </p:cNvPr>
          <p:cNvGrpSpPr/>
          <p:nvPr/>
        </p:nvGrpSpPr>
        <p:grpSpPr>
          <a:xfrm>
            <a:off x="386748" y="1267333"/>
            <a:ext cx="6413622" cy="1241923"/>
            <a:chOff x="386748" y="1048676"/>
            <a:chExt cx="8711700" cy="1241923"/>
          </a:xfrm>
        </p:grpSpPr>
        <p:sp>
          <p:nvSpPr>
            <p:cNvPr id="137" name="Google Shape;137;p5">
              <a:extLst>
                <a:ext uri="{FF2B5EF4-FFF2-40B4-BE49-F238E27FC236}">
                  <a16:creationId xmlns:a16="http://schemas.microsoft.com/office/drawing/2014/main" id="{B8857C02-9776-EE57-8723-E33806958C50}"/>
                </a:ext>
              </a:extLst>
            </p:cNvPr>
            <p:cNvSpPr txBox="1"/>
            <p:nvPr/>
          </p:nvSpPr>
          <p:spPr>
            <a:xfrm>
              <a:off x="856536" y="1582753"/>
              <a:ext cx="6813300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1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thermal conductivity of a material is a measure of its ability to conduct heat</a:t>
              </a:r>
            </a:p>
          </p:txBody>
        </p:sp>
        <p:sp>
          <p:nvSpPr>
            <p:cNvPr id="4" name="Google Shape;161;p7">
              <a:extLst>
                <a:ext uri="{FF2B5EF4-FFF2-40B4-BE49-F238E27FC236}">
                  <a16:creationId xmlns:a16="http://schemas.microsoft.com/office/drawing/2014/main" id="{0FD082CF-FE49-F6EC-C914-692D9761F868}"/>
                </a:ext>
              </a:extLst>
            </p:cNvPr>
            <p:cNvSpPr txBox="1"/>
            <p:nvPr/>
          </p:nvSpPr>
          <p:spPr>
            <a:xfrm>
              <a:off x="386748" y="1048676"/>
              <a:ext cx="8711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Arial"/>
                <a:buChar char="•"/>
              </a:pPr>
              <a:r>
                <a:rPr lang="en-US" sz="2400" b="1" dirty="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Thermal Conductivity(</a:t>
              </a:r>
              <a:r>
                <a:rPr lang="en-US" sz="2400" b="1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WmK</a:t>
              </a:r>
              <a:r>
                <a:rPr lang="en-US" sz="2400" b="1" dirty="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lang="en-US" sz="24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D483374-628E-D4B6-0D5F-599FCE3611FA}"/>
              </a:ext>
            </a:extLst>
          </p:cNvPr>
          <p:cNvGrpSpPr/>
          <p:nvPr/>
        </p:nvGrpSpPr>
        <p:grpSpPr>
          <a:xfrm>
            <a:off x="386748" y="2776257"/>
            <a:ext cx="6413622" cy="934146"/>
            <a:chOff x="386748" y="1048676"/>
            <a:chExt cx="8711700" cy="934146"/>
          </a:xfrm>
        </p:grpSpPr>
        <p:sp>
          <p:nvSpPr>
            <p:cNvPr id="9" name="Google Shape;137;p5">
              <a:extLst>
                <a:ext uri="{FF2B5EF4-FFF2-40B4-BE49-F238E27FC236}">
                  <a16:creationId xmlns:a16="http://schemas.microsoft.com/office/drawing/2014/main" id="{6BD919EE-3F08-78E6-EFE4-AFA3A3954F12}"/>
                </a:ext>
              </a:extLst>
            </p:cNvPr>
            <p:cNvSpPr txBox="1"/>
            <p:nvPr/>
          </p:nvSpPr>
          <p:spPr>
            <a:xfrm>
              <a:off x="856536" y="1582753"/>
              <a:ext cx="6813300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1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Pressure or tension exerted on a material object</a:t>
              </a:r>
            </a:p>
          </p:txBody>
        </p:sp>
        <p:sp>
          <p:nvSpPr>
            <p:cNvPr id="10" name="Google Shape;161;p7">
              <a:extLst>
                <a:ext uri="{FF2B5EF4-FFF2-40B4-BE49-F238E27FC236}">
                  <a16:creationId xmlns:a16="http://schemas.microsoft.com/office/drawing/2014/main" id="{AF3889C8-2063-1B8C-FD68-456A74501E17}"/>
                </a:ext>
              </a:extLst>
            </p:cNvPr>
            <p:cNvSpPr txBox="1"/>
            <p:nvPr/>
          </p:nvSpPr>
          <p:spPr>
            <a:xfrm>
              <a:off x="386748" y="1048676"/>
              <a:ext cx="8711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Arial"/>
                <a:buChar char="•"/>
              </a:pPr>
              <a:r>
                <a:rPr lang="en-US" sz="2400" b="1" dirty="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Stress(Pa)</a:t>
              </a:r>
              <a:endParaRPr lang="en-US" sz="24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803F6A-CBC3-B9AB-84F0-42955D7199C0}"/>
              </a:ext>
            </a:extLst>
          </p:cNvPr>
          <p:cNvGrpSpPr/>
          <p:nvPr/>
        </p:nvGrpSpPr>
        <p:grpSpPr>
          <a:xfrm>
            <a:off x="386748" y="3977403"/>
            <a:ext cx="6413622" cy="1241923"/>
            <a:chOff x="386748" y="1048676"/>
            <a:chExt cx="8711700" cy="1241923"/>
          </a:xfrm>
        </p:grpSpPr>
        <p:sp>
          <p:nvSpPr>
            <p:cNvPr id="12" name="Google Shape;137;p5">
              <a:extLst>
                <a:ext uri="{FF2B5EF4-FFF2-40B4-BE49-F238E27FC236}">
                  <a16:creationId xmlns:a16="http://schemas.microsoft.com/office/drawing/2014/main" id="{9F26E314-A5EB-B454-F25F-3DADF292EC82}"/>
                </a:ext>
              </a:extLst>
            </p:cNvPr>
            <p:cNvSpPr txBox="1"/>
            <p:nvPr/>
          </p:nvSpPr>
          <p:spPr>
            <a:xfrm>
              <a:off x="856536" y="1582753"/>
              <a:ext cx="6813300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1"/>
              <a:r>
                <a: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measure of elasticity, equal to the ratio of the stress acting on a substance to the strain produced.</a:t>
              </a:r>
              <a:endPara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61;p7">
              <a:extLst>
                <a:ext uri="{FF2B5EF4-FFF2-40B4-BE49-F238E27FC236}">
                  <a16:creationId xmlns:a16="http://schemas.microsoft.com/office/drawing/2014/main" id="{90C23225-4D16-7BF2-27E5-48B872F64D54}"/>
                </a:ext>
              </a:extLst>
            </p:cNvPr>
            <p:cNvSpPr txBox="1"/>
            <p:nvPr/>
          </p:nvSpPr>
          <p:spPr>
            <a:xfrm>
              <a:off x="386748" y="1048676"/>
              <a:ext cx="8711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Arial"/>
                <a:buChar char="•"/>
              </a:pPr>
              <a:r>
                <a:rPr lang="en-US" sz="2400" b="1" dirty="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Young’s Modulus</a:t>
              </a:r>
              <a:endParaRPr lang="en-US" sz="24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6" name="Picture 2" descr="Chemical bond of water molecule">
            <a:extLst>
              <a:ext uri="{FF2B5EF4-FFF2-40B4-BE49-F238E27FC236}">
                <a16:creationId xmlns:a16="http://schemas.microsoft.com/office/drawing/2014/main" id="{8727E867-FA45-300C-37FA-2639EB322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842" y="1821536"/>
            <a:ext cx="5929673" cy="33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55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164900" y="932375"/>
            <a:ext cx="3226848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Flow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493400" y="2326700"/>
            <a:ext cx="2551500" cy="950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83025" tIns="83025" rIns="83025" bIns="830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MD simulation in LAMMPS</a:t>
            </a:r>
            <a:endParaRPr sz="254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1769154" y="4708519"/>
            <a:ext cx="2551500" cy="950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83025" tIns="83025" rIns="83025" bIns="830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acquisition</a:t>
            </a:r>
            <a:endParaRPr sz="254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4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4134327" y="2326700"/>
            <a:ext cx="2551500" cy="950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83025" tIns="83025" rIns="83025" bIns="830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Examining Properties</a:t>
            </a:r>
            <a:endParaRPr sz="254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5754777" y="4708519"/>
            <a:ext cx="2551500" cy="950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83025" tIns="83025" rIns="83025" bIns="830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sz="254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Python</a:t>
            </a:r>
            <a:endParaRPr sz="254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7775255" y="2271975"/>
            <a:ext cx="2551500" cy="950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83025" tIns="83025" rIns="83025" bIns="830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Property Prediction</a:t>
            </a:r>
            <a:endParaRPr sz="254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9333427" y="4708537"/>
            <a:ext cx="2551500" cy="950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83025" tIns="83025" rIns="83025" bIns="830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Validation of  Data </a:t>
            </a:r>
            <a:endParaRPr sz="254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6"/>
          <p:cNvCxnSpPr>
            <a:stCxn id="144" idx="2"/>
            <a:endCxn id="145" idx="0"/>
          </p:cNvCxnSpPr>
          <p:nvPr/>
        </p:nvCxnSpPr>
        <p:spPr>
          <a:xfrm>
            <a:off x="1769150" y="3277100"/>
            <a:ext cx="1275900" cy="143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1" name="Google Shape;151;p6"/>
          <p:cNvCxnSpPr>
            <a:stCxn id="145" idx="0"/>
            <a:endCxn id="146" idx="2"/>
          </p:cNvCxnSpPr>
          <p:nvPr/>
        </p:nvCxnSpPr>
        <p:spPr>
          <a:xfrm rot="10800000" flipH="1">
            <a:off x="3044904" y="3277219"/>
            <a:ext cx="2365200" cy="143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2" name="Google Shape;152;p6"/>
          <p:cNvCxnSpPr>
            <a:stCxn id="146" idx="2"/>
            <a:endCxn id="147" idx="0"/>
          </p:cNvCxnSpPr>
          <p:nvPr/>
        </p:nvCxnSpPr>
        <p:spPr>
          <a:xfrm>
            <a:off x="5410077" y="3277100"/>
            <a:ext cx="1620600" cy="1431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3" name="Google Shape;153;p6"/>
          <p:cNvCxnSpPr>
            <a:stCxn id="147" idx="0"/>
            <a:endCxn id="148" idx="2"/>
          </p:cNvCxnSpPr>
          <p:nvPr/>
        </p:nvCxnSpPr>
        <p:spPr>
          <a:xfrm rot="10800000" flipH="1">
            <a:off x="7030527" y="3222319"/>
            <a:ext cx="2020500" cy="1486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4" name="Google Shape;154;p6"/>
          <p:cNvCxnSpPr>
            <a:stCxn id="148" idx="2"/>
            <a:endCxn id="149" idx="0"/>
          </p:cNvCxnSpPr>
          <p:nvPr/>
        </p:nvCxnSpPr>
        <p:spPr>
          <a:xfrm>
            <a:off x="9051005" y="3222375"/>
            <a:ext cx="1558200" cy="1486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153950" y="965200"/>
            <a:ext cx="5408812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Model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322143" y="1685982"/>
            <a:ext cx="871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LASSO Regression</a:t>
            </a:r>
            <a:endParaRPr sz="24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76625" y="6371900"/>
            <a:ext cx="698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https://www.appliedaicourse.com/blog/lasso-regression/</a:t>
            </a:r>
            <a:endParaRPr/>
          </a:p>
        </p:txBody>
      </p:sp>
      <p:pic>
        <p:nvPicPr>
          <p:cNvPr id="163" name="Google Shape;1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5400" y="2564125"/>
            <a:ext cx="5408801" cy="13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471100" y="2399168"/>
            <a:ext cx="5408700" cy="224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It’s a type of regression which is used to reduce overfitting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adds a penalty base on the sum of the absolute values of the coefficients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tries to minimize the Mean Squared Error (MSE), just like a normal regression model.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Hyperparameters used: λ &amp; βj​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153950" y="965200"/>
            <a:ext cx="5408812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Visualising</a:t>
            </a:r>
            <a:r>
              <a:rPr lang="en-US" sz="36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Raw Data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25" y="2267136"/>
            <a:ext cx="3719804" cy="2408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6248" y="2182116"/>
            <a:ext cx="3759014" cy="2408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0125" y="2292488"/>
            <a:ext cx="3473250" cy="227301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 txBox="1"/>
          <p:nvPr/>
        </p:nvSpPr>
        <p:spPr>
          <a:xfrm>
            <a:off x="320758" y="4904375"/>
            <a:ext cx="41100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Apparent Young’s Modulus VS 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4564077" y="4904375"/>
            <a:ext cx="36252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Thermal Conductivity VS 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8882300" y="4904375"/>
            <a:ext cx="24489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Stress VS Strain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153950" y="965200"/>
            <a:ext cx="5408812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322147" y="1685975"/>
            <a:ext cx="493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Data Splitting</a:t>
            </a:r>
            <a:endParaRPr sz="24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471100" y="2399175"/>
            <a:ext cx="4641900" cy="10156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70 % Training And 30 % Testing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Hyperparameter  λ =1.0 for training.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⮚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 used = Mean square error,R^2.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9"/>
          <p:cNvGraphicFramePr/>
          <p:nvPr>
            <p:extLst>
              <p:ext uri="{D42A27DB-BD31-4B8C-83A1-F6EECF244321}">
                <p14:modId xmlns:p14="http://schemas.microsoft.com/office/powerpoint/2010/main" val="2754711083"/>
              </p:ext>
            </p:extLst>
          </p:nvPr>
        </p:nvGraphicFramePr>
        <p:xfrm>
          <a:off x="863900" y="3595943"/>
          <a:ext cx="10676975" cy="1462950"/>
        </p:xfrm>
        <a:graphic>
          <a:graphicData uri="http://schemas.openxmlformats.org/drawingml/2006/table">
            <a:tbl>
              <a:tblPr>
                <a:noFill/>
                <a:tableStyleId>{96E21B5B-641C-4FE3-9670-09E93975A477}</a:tableStyleId>
              </a:tblPr>
              <a:tblGrid>
                <a:gridCol w="23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Data 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</a:rPr>
                        <a:t>R^2 Score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lt1"/>
                          </a:solidFill>
                        </a:rPr>
                        <a:t>MSE</a:t>
                      </a:r>
                      <a:endParaRPr sz="2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A64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Train 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0.77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5374.052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Test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0.78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5834.97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153950" y="965200"/>
            <a:ext cx="6822479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 Prediction &amp; Validation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322147" y="1685975"/>
            <a:ext cx="493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Actual VS Predicted Values</a:t>
            </a:r>
            <a:endParaRPr sz="24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951" y="2286581"/>
            <a:ext cx="4932900" cy="3194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5150" y="2286581"/>
            <a:ext cx="4932901" cy="3228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5925" y="1345410"/>
            <a:ext cx="6840151" cy="43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C5B0-F9B4-5EAE-4EFC-65C336003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26" y="143404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19F8F-90C7-C8CD-7C5C-EBD70F69F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CA169-6CCC-57B9-F4FB-3D36962298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C63C1D-0860-A087-15B2-FEF10CE86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65" y="1186467"/>
            <a:ext cx="8170606" cy="534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90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1A56-43D3-6462-E724-280613B8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E0E82-BA9F-E247-1A24-862693204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14300" indent="0">
              <a:buNone/>
            </a:pPr>
            <a:r>
              <a:rPr lang="en-IN" dirty="0"/>
              <a:t> 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2FD8E-9724-A913-47C0-85AB180A6A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F6641-E0BD-6329-C994-B7506E3F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4" y="1825625"/>
            <a:ext cx="6000995" cy="4496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4CB495-026B-B64E-9FCD-D595AB094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652" y="1680446"/>
            <a:ext cx="5890695" cy="464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4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/>
        </p:nvSpPr>
        <p:spPr>
          <a:xfrm>
            <a:off x="11524892" y="6447368"/>
            <a:ext cx="471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6914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7"/>
          <p:cNvCxnSpPr/>
          <p:nvPr/>
        </p:nvCxnSpPr>
        <p:spPr>
          <a:xfrm>
            <a:off x="-11077" y="6409475"/>
            <a:ext cx="12203100" cy="0"/>
          </a:xfrm>
          <a:prstGeom prst="straightConnector1">
            <a:avLst/>
          </a:prstGeom>
          <a:noFill/>
          <a:ln w="38100" cap="flat" cmpd="sng">
            <a:solidFill>
              <a:srgbClr val="6914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5" name="Google Shape;205;p17"/>
          <p:cNvSpPr txBox="1"/>
          <p:nvPr/>
        </p:nvSpPr>
        <p:spPr>
          <a:xfrm>
            <a:off x="225750" y="1235675"/>
            <a:ext cx="116046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bridge the gap between computationally-intensive MD simulations and the need for rapid material analysis, a novel machine learning model is proposed, developed on a large set of </a:t>
            </a:r>
            <a:r>
              <a:rPr lang="en-US" sz="20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6,000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simulated data points.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constructed a </a:t>
            </a:r>
            <a:r>
              <a:rPr lang="en-US" sz="20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Lasso Regression model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investigate the thermomechanical properties of Silicon Carbide (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SiC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examining how properties like Stress and Young's Modulus vary with Temperature and Strain.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results from the trained Lasso model, when validated against a </a:t>
            </a:r>
            <a:r>
              <a:rPr lang="en-US" sz="20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hold-out test set, show strong predictive accuracy and are consistent with the underlying physical trends for properties such as </a:t>
            </a:r>
            <a:r>
              <a:rPr lang="en-US" sz="2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Young's Modulus, Stress (</a:t>
            </a:r>
            <a:r>
              <a:rPr lang="en-US" sz="20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GPa</a:t>
            </a:r>
            <a:r>
              <a:rPr lang="en-US" sz="2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), and Thermal Conductivity.</a:t>
            </a:r>
            <a:endParaRPr sz="2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7" descr="nitw brand logo"/>
          <p:cNvPicPr preferRelativeResize="0"/>
          <p:nvPr/>
        </p:nvPicPr>
        <p:blipFill rotWithShape="1">
          <a:blip r:embed="rId3">
            <a:alphaModFix/>
          </a:blip>
          <a:srcRect r="14150"/>
          <a:stretch/>
        </p:blipFill>
        <p:spPr>
          <a:xfrm>
            <a:off x="2694467" y="4826599"/>
            <a:ext cx="7080429" cy="134126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114250" y="463375"/>
            <a:ext cx="6822479" cy="720776"/>
          </a:xfrm>
          <a:custGeom>
            <a:avLst/>
            <a:gdLst/>
            <a:ahLst/>
            <a:cxnLst/>
            <a:rect l="l" t="t" r="r" b="b"/>
            <a:pathLst>
              <a:path w="4097585" h="954670" extrusionOk="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508</Words>
  <Application>Microsoft Office PowerPoint</Application>
  <PresentationFormat>Widescreen</PresentationFormat>
  <Paragraphs>87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Noto Sans Symbols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Vijay Choyal</dc:creator>
  <cp:lastModifiedBy>Deva Kumar Peta</cp:lastModifiedBy>
  <cp:revision>2</cp:revision>
  <dcterms:created xsi:type="dcterms:W3CDTF">2023-04-12T16:28:37Z</dcterms:created>
  <dcterms:modified xsi:type="dcterms:W3CDTF">2025-11-01T02:23:06Z</dcterms:modified>
</cp:coreProperties>
</file>